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4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6" r:id="rId14"/>
    <p:sldId id="295" r:id="rId15"/>
    <p:sldId id="294" r:id="rId16"/>
    <p:sldId id="293" r:id="rId17"/>
    <p:sldId id="292" r:id="rId18"/>
    <p:sldId id="297" r:id="rId19"/>
    <p:sldId id="276" r:id="rId20"/>
    <p:sldId id="263" r:id="rId21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About Me" id="{C6549533-F8E2-4E23-A7A2-F975C29AA9FA}">
          <p14:sldIdLst>
            <p14:sldId id="256"/>
          </p14:sldIdLst>
        </p14:section>
        <p14:section name="Outline Page" id="{023254FE-EB1B-4EDE-A9F7-3CB51839CFE4}">
          <p14:sldIdLst>
            <p14:sldId id="257"/>
          </p14:sldIdLst>
        </p14:section>
        <p14:section name="PPT Started" id="{57A68977-7E45-4CAE-A0F6-966F8EC2F04F}">
          <p14:sldIdLst>
            <p14:sldId id="264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6"/>
            <p14:sldId id="295"/>
            <p14:sldId id="294"/>
            <p14:sldId id="293"/>
            <p14:sldId id="292"/>
            <p14:sldId id="297"/>
            <p14:sldId id="276"/>
          </p14:sldIdLst>
        </p14:section>
        <p14:section name="Thank You Page" id="{057C2B93-D5C0-4360-BCC3-EED2F1289DDB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87451" autoAdjust="0"/>
  </p:normalViewPr>
  <p:slideViewPr>
    <p:cSldViewPr>
      <p:cViewPr varScale="1">
        <p:scale>
          <a:sx n="72" d="100"/>
          <a:sy n="72" d="100"/>
        </p:scale>
        <p:origin x="114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EBAAF-0D4F-465B-A450-B60F69BEF79D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ADC3A-38F0-4E77-B89F-1E3ECE4314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944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ADC3A-38F0-4E77-B89F-1E3ECE43142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788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628332"/>
            <a:ext cx="6957695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3750" y="1819275"/>
            <a:ext cx="106045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9" Type="http://schemas.openxmlformats.org/officeDocument/2006/relationships/slide" Target="slide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har-animesh-27112001/analyzing_in-context_learning_in_language-models_using_counterfactuals.git" TargetMode="External"/><Relationship Id="rId2" Type="http://schemas.openxmlformats.org/officeDocument/2006/relationships/hyperlink" Target="https://www.overleaf.com/read/gpntchjvdfjw#73965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2071" y="857166"/>
            <a:ext cx="9527857" cy="1561518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646430" marR="5080" indent="-633730" algn="just">
              <a:lnSpc>
                <a:spcPts val="5860"/>
              </a:lnSpc>
              <a:spcBef>
                <a:spcPts val="820"/>
              </a:spcBef>
            </a:pPr>
            <a:r>
              <a:rPr b="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b="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In-Context Learning in Language Models Using Counterfactuals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17370" y="2786380"/>
            <a:ext cx="8557260" cy="128524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5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:- ELD880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" algn="ctr">
              <a:lnSpc>
                <a:spcPct val="100000"/>
              </a:lnSpc>
              <a:spcBef>
                <a:spcPts val="640"/>
              </a:spcBef>
            </a:pPr>
            <a:r>
              <a:rPr lang="en-IN" sz="36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Supervisor:- Prof. </a:t>
            </a:r>
            <a:r>
              <a:rPr lang="en-IN" sz="3600" b="1" spc="-4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Sougata</a:t>
            </a:r>
            <a:r>
              <a:rPr lang="en-IN" sz="36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4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Mukherjea</a:t>
            </a:r>
            <a:endParaRPr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4253" y="4311205"/>
            <a:ext cx="4074795" cy="1399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755" marR="443865" indent="-5080" algn="ctr">
              <a:lnSpc>
                <a:spcPct val="125200"/>
              </a:lnSpc>
              <a:spcBef>
                <a:spcPts val="100"/>
              </a:spcBef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Name:-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Animesh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Lohar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No:-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2024EET2368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185307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45E67D-8159-7E8B-6CE8-E4111FE17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403089"/>
              </p:ext>
            </p:extLst>
          </p:nvPr>
        </p:nvGraphicFramePr>
        <p:xfrm>
          <a:off x="2032000" y="1070644"/>
          <a:ext cx="8128000" cy="471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3775">
                  <a:extLst>
                    <a:ext uri="{9D8B030D-6E8A-4147-A177-3AD203B41FA5}">
                      <a16:colId xmlns:a16="http://schemas.microsoft.com/office/drawing/2014/main" val="2237621070"/>
                    </a:ext>
                  </a:extLst>
                </a:gridCol>
                <a:gridCol w="2054225">
                  <a:extLst>
                    <a:ext uri="{9D8B030D-6E8A-4147-A177-3AD203B41FA5}">
                      <a16:colId xmlns:a16="http://schemas.microsoft.com/office/drawing/2014/main" val="2965670578"/>
                    </a:ext>
                  </a:extLst>
                </a:gridCol>
              </a:tblGrid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Outlines</a:t>
                      </a: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No.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365197274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Introduction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3 - 4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4290919232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 action="ppaction://hlinksldjump"/>
                        </a:rPr>
                        <a:t>Problem Statement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4 - 5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4090776464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 action="ppaction://hlinksldjump"/>
                        </a:rPr>
                        <a:t>Related Work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5 - 6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3243130207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Methodology</a:t>
                      </a:r>
                      <a:endParaRPr lang="en-IN" sz="20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6 - 7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2561629282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 action="ppaction://hlinksldjump"/>
                        </a:rPr>
                        <a:t>Results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– 17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2763441781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 action="ppaction://hlinksldjump"/>
                        </a:rPr>
                        <a:t>Conclusion &amp; Future Works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17-19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65303998"/>
                  </a:ext>
                </a:extLst>
              </a:tr>
              <a:tr h="589589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9" action="ppaction://hlinksldjump"/>
                        </a:rPr>
                        <a:t>Reference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111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19 - 20</a:t>
                      </a:r>
                    </a:p>
                  </a:txBody>
                  <a:tcPr marT="111600"/>
                </a:tc>
                <a:extLst>
                  <a:ext uri="{0D108BD9-81ED-4DB2-BD59-A6C34878D82A}">
                    <a16:rowId xmlns:a16="http://schemas.microsoft.com/office/drawing/2014/main" val="7467153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129645-5BA7-BAD8-E6D4-1C3BE2E86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4AB8C6B-04C0-2D8E-0FDF-B81909FF06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40042"/>
            <a:ext cx="695769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800" spc="-10" dirty="0"/>
              <a:t>Introduction</a:t>
            </a:r>
            <a:r>
              <a:rPr sz="3800" spc="-10" dirty="0"/>
              <a:t>:-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B21BB0F-1A8F-2BF4-2227-7A57EB46AE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3A0A738-FB2F-EEE3-D6F5-5C3AD314461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DE6B71A-7031-26DC-5B43-381A119F13E5}"/>
              </a:ext>
            </a:extLst>
          </p:cNvPr>
          <p:cNvSpPr txBox="1"/>
          <p:nvPr/>
        </p:nvSpPr>
        <p:spPr>
          <a:xfrm>
            <a:off x="3211092" y="1043576"/>
            <a:ext cx="5486397" cy="4251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434"/>
              </a:spcBef>
              <a:buSzPct val="72727"/>
              <a:tabLst>
                <a:tab pos="186055" algn="l"/>
              </a:tabLs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Dual Nature of Language Models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5AA710-C11F-6A36-B4C2-13F097EB504F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5954291" y="1468691"/>
            <a:ext cx="0" cy="15809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877110-2EC0-0474-FB9F-B5D11EF8AA92}"/>
              </a:ext>
            </a:extLst>
          </p:cNvPr>
          <p:cNvCxnSpPr>
            <a:cxnSpLocks/>
          </p:cNvCxnSpPr>
          <p:nvPr/>
        </p:nvCxnSpPr>
        <p:spPr>
          <a:xfrm flipV="1">
            <a:off x="3210233" y="1598952"/>
            <a:ext cx="5476566" cy="1748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3F4D7E-96FD-F188-C132-3803F29F0CFD}"/>
              </a:ext>
            </a:extLst>
          </p:cNvPr>
          <p:cNvCxnSpPr>
            <a:cxnSpLocks/>
          </p:cNvCxnSpPr>
          <p:nvPr/>
        </p:nvCxnSpPr>
        <p:spPr>
          <a:xfrm>
            <a:off x="3200400" y="15980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3AC808-D266-CCBB-3698-07EED2CEDDD6}"/>
              </a:ext>
            </a:extLst>
          </p:cNvPr>
          <p:cNvCxnSpPr>
            <a:cxnSpLocks/>
          </p:cNvCxnSpPr>
          <p:nvPr/>
        </p:nvCxnSpPr>
        <p:spPr>
          <a:xfrm>
            <a:off x="8676966" y="1583373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object 4">
            <a:extLst>
              <a:ext uri="{FF2B5EF4-FFF2-40B4-BE49-F238E27FC236}">
                <a16:creationId xmlns:a16="http://schemas.microsoft.com/office/drawing/2014/main" id="{9E699A84-80AE-B63B-D903-0843BE228E62}"/>
              </a:ext>
            </a:extLst>
          </p:cNvPr>
          <p:cNvSpPr txBox="1"/>
          <p:nvPr/>
        </p:nvSpPr>
        <p:spPr>
          <a:xfrm>
            <a:off x="1491456" y="1805708"/>
            <a:ext cx="3417887" cy="4251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434"/>
              </a:spcBef>
              <a:buSzPct val="72727"/>
              <a:tabLst>
                <a:tab pos="186055" algn="l"/>
              </a:tabLs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Context Learning (ICL)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62F190E3-F25B-0A49-406B-B18C851C46D9}"/>
              </a:ext>
            </a:extLst>
          </p:cNvPr>
          <p:cNvSpPr txBox="1"/>
          <p:nvPr/>
        </p:nvSpPr>
        <p:spPr>
          <a:xfrm>
            <a:off x="6741964" y="1820366"/>
            <a:ext cx="3645401" cy="42511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434"/>
              </a:spcBef>
              <a:buSzPct val="72727"/>
              <a:tabLst>
                <a:tab pos="186055" algn="l"/>
              </a:tabLs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Pretrained Memory</a:t>
            </a:r>
            <a:endParaRPr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99A6FE9-D8FE-8102-2022-A3E991B8844C}"/>
              </a:ext>
            </a:extLst>
          </p:cNvPr>
          <p:cNvSpPr/>
          <p:nvPr/>
        </p:nvSpPr>
        <p:spPr>
          <a:xfrm>
            <a:off x="848891" y="2367354"/>
            <a:ext cx="5105400" cy="136825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914400" indent="-457200">
              <a:buFont typeface="Wingdings" panose="05000000000000000000" pitchFamily="2" charset="2"/>
              <a:buChar char="Ø"/>
              <a:defRPr/>
            </a:pPr>
            <a:endParaRPr lang="en-IN" sz="24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773FB1B-3FDA-0E80-D2EB-D09195660A6B}"/>
              </a:ext>
            </a:extLst>
          </p:cNvPr>
          <p:cNvSpPr/>
          <p:nvPr/>
        </p:nvSpPr>
        <p:spPr>
          <a:xfrm>
            <a:off x="6296025" y="2370827"/>
            <a:ext cx="4781548" cy="136825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7CB7D4-8568-4C4F-36D9-DBD52D88C905}"/>
              </a:ext>
            </a:extLst>
          </p:cNvPr>
          <p:cNvSpPr txBox="1"/>
          <p:nvPr/>
        </p:nvSpPr>
        <p:spPr>
          <a:xfrm>
            <a:off x="1175508" y="2546655"/>
            <a:ext cx="4452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from Examples in the Prompt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 to New Tasks Immediately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Contextual Instructions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AE6379-F785-4E55-4B14-ABA88453F764}"/>
              </a:ext>
            </a:extLst>
          </p:cNvPr>
          <p:cNvSpPr txBox="1"/>
          <p:nvPr/>
        </p:nvSpPr>
        <p:spPr>
          <a:xfrm>
            <a:off x="6438899" y="2546655"/>
            <a:ext cx="449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Vast World Knowledge from Training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Factual Consistency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Established Reasoning Patterns</a:t>
            </a:r>
            <a:endParaRPr lang="en-IN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8C9EB9-02B4-CCE8-6C3E-0951DFABFAF4}"/>
              </a:ext>
            </a:extLst>
          </p:cNvPr>
          <p:cNvSpPr txBox="1"/>
          <p:nvPr/>
        </p:nvSpPr>
        <p:spPr>
          <a:xfrm>
            <a:off x="801329" y="4068092"/>
            <a:ext cx="616664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Counterfactuals to Probe the Competition:</a:t>
            </a:r>
          </a:p>
          <a:p>
            <a:pPr marL="342900" lvl="4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direct conflict between context and memory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 which system dominates</a:t>
            </a:r>
          </a:p>
          <a:p>
            <a:pPr marL="3429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model robustness and reasoning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Question: When context contradicts knowledge, which wins?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4362DFB-BE44-83A7-E2CA-F8313D6085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002" y="4012634"/>
            <a:ext cx="4574335" cy="187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72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934437-37BE-70C4-4D5C-00BB3E5F1F8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85800" y="1179213"/>
                <a:ext cx="10604500" cy="5029200"/>
              </a:xfrm>
              <a:effectLst>
                <a:softEdge rad="0"/>
              </a:effectLst>
            </p:spPr>
            <p:txBody>
              <a:bodyPr lIns="0">
                <a:norm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Counterfactual Prompt Structure: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𝒫</m:t>
                    </m:r>
                    <m:r>
                      <a:rPr lang="en-IN" b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Premise</m:t>
                        </m:r>
                        <m:r>
                          <a:rPr lang="en-IN" b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limLow>
                          <m:limLowPr>
                            <m:ctrlPr>
                              <a:rPr lang="ar-AE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ar-AE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nor/>
                                  </m:rPr>
                                  <a:rPr lang="en-IN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False</m:t>
                                </m:r>
                                <m:r>
                                  <m:rPr>
                                    <m:nor/>
                                  </m:rPr>
                                  <a:rPr lang="en-US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IN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Statement</m:t>
                                </m:r>
                              </m:e>
                            </m:groupCh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lim>
                        </m:limLow>
                        <m:r>
                          <a:rPr lang="ar-AE" b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limLow>
                          <m:limLowPr>
                            <m:ctrlPr>
                              <a:rPr lang="ar-AE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ar-AE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nor/>
                                  </m:rPr>
                                  <a:rPr lang="en-IN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Question</m:t>
                                </m:r>
                              </m:e>
                            </m:groupCh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lim>
                        </m:limLow>
                      </m:e>
                    </m:d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v"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Decomposition: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ar-AE" b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b="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𝒫</m:t>
                        </m:r>
                      </m:e>
                    </m:d>
                    <m:r>
                      <a:rPr lang="ar-AE" b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ar-AE" b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b="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)+</m:t>
                    </m:r>
                    <m:d>
                      <m:dPr>
                        <m:ctrlPr>
                          <a:rPr lang="ar-AE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b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b="0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ar-AE" b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b="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ar-AE" b="0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= context, M = </a:t>
                </a:r>
                <a:r>
                  <a:rPr lang="en-IN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pre-trained knowledge, </a:t>
                </a:r>
                <a:r>
                  <a:rPr lang="el-GR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context weighting parameter, </a:t>
                </a:r>
                <a:r>
                  <a:rPr lang="el-GR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ϵ</a:t>
                </a:r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noise, x = input, y = output</a:t>
                </a:r>
              </a:p>
              <a:p>
                <a:pPr marL="914400" lvl="1" indent="-457200">
                  <a:buFont typeface="Wingdings" panose="05000000000000000000" pitchFamily="2" charset="2"/>
                  <a:buChar char="q"/>
                </a:pPr>
                <a:endParaRPr lang="en-IN" dirty="0">
                  <a:solidFill>
                    <a:schemeClr val="accent4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IN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RQ1: Premise Word Performance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 different instructional premise words affect model susceptibility to counterfactuals?</a:t>
                </a:r>
                <a:endParaRPr lang="en-IN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Hypothesis</a:t>
                </a:r>
                <a:r>
                  <a:rPr lang="en-US" b="1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 premise words modulate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257300" lvl="2" indent="-34290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𝑝𝑟𝑒𝑚𝑖𝑠𝑒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=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(“Redefine” vs “Assess” vs “Fact Check” vs “Review” vs “Validate” vs “Verify”)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RQ2: Meta-Prompt Intervention (Context Only &amp; Memory Only)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strategic meta-prompts override default behavior and control the context-memory trade-off?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Hypothesis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Strategic instructions can override default </a:t>
                </a:r>
                <a:r>
                  <a:rPr 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</a:t>
                </a:r>
              </a:p>
              <a:p>
                <a:pPr marL="1200150" lvl="2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𝑚𝑒𝑡𝑎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en-US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RQ3: Model Scaling Effects</a:t>
                </a:r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do model size and architecture influence resistance to counterfactuals and instruction following?</a:t>
                </a:r>
              </a:p>
              <a:p>
                <a:pPr marL="742950" lvl="1" indent="-285750">
                  <a:buFont typeface="Courier New" panose="02070309020205020404" pitchFamily="49" charset="0"/>
                  <a:buChar char="o"/>
                </a:pPr>
                <a:r>
                  <a:rPr lang="en-US" i="0" dirty="0">
                    <a:solidFill>
                      <a:srgbClr val="0F1115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Hypothesis: Larger models have more tunable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F1115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934437-37BE-70C4-4D5C-00BB3E5F1F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800" y="1179213"/>
                <a:ext cx="10604500" cy="5029200"/>
              </a:xfrm>
              <a:blipFill>
                <a:blip r:embed="rId2"/>
                <a:stretch>
                  <a:fillRect l="-1265" t="-1576"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5">
            <a:extLst>
              <a:ext uri="{FF2B5EF4-FFF2-40B4-BE49-F238E27FC236}">
                <a16:creationId xmlns:a16="http://schemas.microsoft.com/office/drawing/2014/main" id="{FC83F97C-5096-AB31-E960-6363BE7213F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86C85C92-058D-7455-C7EA-B6DF52BFD01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2A0E57-AB9C-4F3D-7818-40BC1A468020}"/>
              </a:ext>
            </a:extLst>
          </p:cNvPr>
          <p:cNvSpPr txBox="1"/>
          <p:nvPr/>
        </p:nvSpPr>
        <p:spPr>
          <a:xfrm>
            <a:off x="3498574" y="4731132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(Context - Only)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60DA0-1D47-8AC7-27C1-E8A4F94763C8}"/>
              </a:ext>
            </a:extLst>
          </p:cNvPr>
          <p:cNvSpPr txBox="1"/>
          <p:nvPr/>
        </p:nvSpPr>
        <p:spPr>
          <a:xfrm>
            <a:off x="3498574" y="5019271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(Memory - Only)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F43CCB68-B431-F39F-F0B7-912FA9E0D5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340042"/>
            <a:ext cx="711009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800" spc="-10" dirty="0"/>
              <a:t>Problem Statement</a:t>
            </a:r>
            <a:r>
              <a:rPr sz="3800" spc="-10" dirty="0"/>
              <a:t>:-</a:t>
            </a:r>
          </a:p>
        </p:txBody>
      </p:sp>
    </p:spTree>
    <p:extLst>
      <p:ext uri="{BB962C8B-B14F-4D97-AF65-F5344CB8AC3E}">
        <p14:creationId xmlns:p14="http://schemas.microsoft.com/office/powerpoint/2010/main" val="278498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0129-175B-55A6-36E0-9FA6C6D86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340042"/>
            <a:ext cx="7081520" cy="584775"/>
          </a:xfrm>
        </p:spPr>
        <p:txBody>
          <a:bodyPr/>
          <a:lstStyle/>
          <a:p>
            <a:r>
              <a:rPr lang="en-US" sz="3800" dirty="0"/>
              <a:t>Related Work:-</a:t>
            </a:r>
            <a:endParaRPr lang="en-IN" sz="3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2DFE7-8A93-F10E-EAE2-38F844698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295400"/>
            <a:ext cx="10604500" cy="492442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Generalizability of “Competition of Mechanisms: Tracing How Language Models Handle Facts and Counterfactuals”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Asen </a:t>
            </a:r>
            <a:r>
              <a:rPr lang="en-US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Dotsinski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Udit Thakur, Marko Ivanov, Mohammad Hafeez Khan, Maria Heuss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 for Large Language Models: A Survey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HAIYAN ZHAO, HANJIE CHEN, FAN YANG, NINGHAO LIU, HUIQI DENG, HENGYI CAI, SHUAIQIANG WANG and DAWEI YIN, MENGNAN DU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US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Competition of Mechanisms: Tracing How Language Models Handle Facts and Counterfactuals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Francesco Ortu,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Zhijing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Jin, Diego Doimo,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Mrinmaya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Sachan, Alberto Cazzaniga, Bernhard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Scholkopf</a:t>
            </a:r>
            <a:endParaRPr lang="en-IN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Atlas of In-Context Learning: How Attention Heads Shape In-Context Retrieval Augmentation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Patrick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Kahardipraja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Reduan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Achtibat</a:t>
            </a: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Thomas Wiegand, Wojciech Samek, Sebastian </a:t>
            </a:r>
            <a:r>
              <a:rPr lang="en-IN" sz="20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Lapuschkin</a:t>
            </a:r>
            <a:endParaRPr lang="en-IN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endParaRPr lang="en-IN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12DEC64-A3D1-337C-6F98-CC13F7961E1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pic>
        <p:nvPicPr>
          <p:cNvPr id="9" name="object 4">
            <a:extLst>
              <a:ext uri="{FF2B5EF4-FFF2-40B4-BE49-F238E27FC236}">
                <a16:creationId xmlns:a16="http://schemas.microsoft.com/office/drawing/2014/main" id="{851A0401-943B-38A5-16B8-C430E41A41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73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B8CC-05FC-9EAA-90DF-9E86317C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50" y="398174"/>
            <a:ext cx="7081520" cy="584775"/>
          </a:xfrm>
        </p:spPr>
        <p:txBody>
          <a:bodyPr/>
          <a:lstStyle/>
          <a:p>
            <a:r>
              <a:rPr lang="en-IN" sz="3800" dirty="0"/>
              <a:t>Methodology Overview:-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B43F51-34A8-0901-9205-5EA1C01281C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93750" y="2622529"/>
                <a:ext cx="10604500" cy="3375668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IN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Components:-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Dataset: </a:t>
                </a:r>
                <a:r>
                  <a:rPr lang="en-I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 Premise types like </a:t>
                </a:r>
                <a:r>
                  <a:rPr lang="en-US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Redefine, Assess, Fact Check, Review, Validate, Verify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 Ablation: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.  </m:t>
                    </m:r>
                    <m:sSub>
                      <m:sSubPr>
                        <m:ctrlPr>
                          <a:rPr lang="en-I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𝑣𝑠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50</m:t>
                    </m:r>
                  </m:oMath>
                </a14:m>
                <a:endParaRPr lang="en-IN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1257300" lvl="2" indent="-342900">
                  <a:buFont typeface="Wingdings" panose="05000000000000000000" pitchFamily="2" charset="2"/>
                  <a:buChar char="v"/>
                </a:pP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original activation of attention heads,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new activation of attention heads and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scaling coefficient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Prompt Ablation: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 vs various Meta-prompts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 Models: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Gpt2-Small, Gpt2-Medium, Gpt2-Large, TinyLlama-1.1B</a:t>
                </a:r>
              </a:p>
              <a:p>
                <a:pPr marL="800100" lvl="1" indent="-342900">
                  <a:buFont typeface="Wingdings" panose="05000000000000000000" pitchFamily="2" charset="2"/>
                  <a:buChar char="Ø"/>
                </a:pPr>
                <a:r>
                  <a:rPr lang="en-US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Analysis: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Factual accuracy, Effect sizes, Confidence scores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CB43F51-34A8-0901-9205-5EA1C0128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93750" y="2622529"/>
                <a:ext cx="10604500" cy="3375668"/>
              </a:xfrm>
              <a:blipFill>
                <a:blip r:embed="rId2"/>
                <a:stretch>
                  <a:fillRect l="-1609" t="-2708" r="-230" b="-46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object 4">
            <a:extLst>
              <a:ext uri="{FF2B5EF4-FFF2-40B4-BE49-F238E27FC236}">
                <a16:creationId xmlns:a16="http://schemas.microsoft.com/office/drawing/2014/main" id="{391D1B95-DA94-B5FE-41EE-64BD854934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1DABCC5A-822F-200E-DF58-BDC2D33E639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16E205-3927-4B3A-F6C2-CAF0D22AD8BF}"/>
              </a:ext>
            </a:extLst>
          </p:cNvPr>
          <p:cNvSpPr/>
          <p:nvPr/>
        </p:nvSpPr>
        <p:spPr>
          <a:xfrm>
            <a:off x="999188" y="1576534"/>
            <a:ext cx="1776238" cy="51391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1BDD748-52BE-3721-83A4-D7F26A587877}"/>
              </a:ext>
            </a:extLst>
          </p:cNvPr>
          <p:cNvSpPr/>
          <p:nvPr/>
        </p:nvSpPr>
        <p:spPr>
          <a:xfrm>
            <a:off x="3452261" y="1550406"/>
            <a:ext cx="2523285" cy="56617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Ablation Study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13152B-949F-B225-A6AB-C555D96226E0}"/>
              </a:ext>
            </a:extLst>
          </p:cNvPr>
          <p:cNvSpPr/>
          <p:nvPr/>
        </p:nvSpPr>
        <p:spPr>
          <a:xfrm>
            <a:off x="6652381" y="1457407"/>
            <a:ext cx="1576564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BDAC90-0C16-B4A6-B50A-04918AF56A44}"/>
              </a:ext>
            </a:extLst>
          </p:cNvPr>
          <p:cNvSpPr/>
          <p:nvPr/>
        </p:nvSpPr>
        <p:spPr>
          <a:xfrm>
            <a:off x="8763000" y="1612569"/>
            <a:ext cx="1774005" cy="45532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E0F0D2-DE4B-ECB8-EA2A-3EA6F98A045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775426" y="1833491"/>
            <a:ext cx="67683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4F26AB-058E-DF34-EF5E-1D87DB67F078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975546" y="1833491"/>
            <a:ext cx="676835" cy="49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018874-1ABC-C410-385C-DBD494C78993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228945" y="1838407"/>
            <a:ext cx="534055" cy="1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31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EA00-F5BF-20AF-62B7-CC3E4646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41585"/>
            <a:ext cx="6957695" cy="492443"/>
          </a:xfrm>
        </p:spPr>
        <p:txBody>
          <a:bodyPr/>
          <a:lstStyle/>
          <a:p>
            <a:r>
              <a:rPr lang="en-IN" sz="3200" dirty="0"/>
              <a:t>Results for RQ1:-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8B82E18-E163-6466-BF5E-7A4765EF95C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A9087591-2710-B581-4F34-263904EB4E4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962D15-6A1C-4F15-F938-39229B47E5EE}"/>
              </a:ext>
            </a:extLst>
          </p:cNvPr>
          <p:cNvSpPr txBox="1"/>
          <p:nvPr/>
        </p:nvSpPr>
        <p:spPr>
          <a:xfrm>
            <a:off x="762458" y="1297774"/>
            <a:ext cx="73914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Ablation For Various Premise Words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1AB6584-2C77-F0A9-945E-11BC1F3C2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103945"/>
              </p:ext>
            </p:extLst>
          </p:nvPr>
        </p:nvGraphicFramePr>
        <p:xfrm>
          <a:off x="916751" y="1879217"/>
          <a:ext cx="10358489" cy="4265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8309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1169679">
                  <a:extLst>
                    <a:ext uri="{9D8B030D-6E8A-4147-A177-3AD203B41FA5}">
                      <a16:colId xmlns:a16="http://schemas.microsoft.com/office/drawing/2014/main" val="4149229472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1379940947"/>
                    </a:ext>
                  </a:extLst>
                </a:gridCol>
                <a:gridCol w="1023470">
                  <a:extLst>
                    <a:ext uri="{9D8B030D-6E8A-4147-A177-3AD203B41FA5}">
                      <a16:colId xmlns:a16="http://schemas.microsoft.com/office/drawing/2014/main" val="3228520472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3510350585"/>
                    </a:ext>
                  </a:extLst>
                </a:gridCol>
                <a:gridCol w="1023470">
                  <a:extLst>
                    <a:ext uri="{9D8B030D-6E8A-4147-A177-3AD203B41FA5}">
                      <a16:colId xmlns:a16="http://schemas.microsoft.com/office/drawing/2014/main" val="2926960395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3696503569"/>
                    </a:ext>
                  </a:extLst>
                </a:gridCol>
                <a:gridCol w="877260">
                  <a:extLst>
                    <a:ext uri="{9D8B030D-6E8A-4147-A177-3AD203B41FA5}">
                      <a16:colId xmlns:a16="http://schemas.microsoft.com/office/drawing/2014/main" val="313413004"/>
                    </a:ext>
                  </a:extLst>
                </a:gridCol>
                <a:gridCol w="1147261">
                  <a:extLst>
                    <a:ext uri="{9D8B030D-6E8A-4147-A177-3AD203B41FA5}">
                      <a16:colId xmlns:a16="http://schemas.microsoft.com/office/drawing/2014/main" val="134442361"/>
                    </a:ext>
                  </a:extLst>
                </a:gridCol>
              </a:tblGrid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GPT2-Small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(5x)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(50x)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2075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2254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47.9%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2673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1656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61.7%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2681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1648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61.9%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361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D40D-495F-CC57-EA72-1B07C1EE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61554"/>
            <a:ext cx="6957695" cy="492443"/>
          </a:xfrm>
        </p:spPr>
        <p:txBody>
          <a:bodyPr/>
          <a:lstStyle/>
          <a:p>
            <a:r>
              <a:rPr lang="en-IN" sz="3200" dirty="0"/>
              <a:t>Results for RQ2:-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11D83-CB4F-3B4F-CE3F-34CA0184F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398639"/>
            <a:ext cx="10604500" cy="153888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Meta Prompt With Premise Words: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“Answer based on the context provided above, ignoring your prior knowledge.\n \n{</a:t>
            </a:r>
            <a:r>
              <a:rPr lang="en-US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}”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“Answer based on your memory, not the context.\n\n{</a:t>
            </a:r>
            <a:r>
              <a:rPr lang="en-US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}”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08AF997-B2BE-B7B6-203A-5A37C510F73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3E72F18-4EB4-B1AC-5E69-8E83B23EB85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F3460D6-89CE-3E3C-C8A9-9E5E53DD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463656"/>
              </p:ext>
            </p:extLst>
          </p:nvPr>
        </p:nvGraphicFramePr>
        <p:xfrm>
          <a:off x="916753" y="2957015"/>
          <a:ext cx="10113197" cy="30781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8553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174882">
                  <a:extLst>
                    <a:ext uri="{9D8B030D-6E8A-4147-A177-3AD203B41FA5}">
                      <a16:colId xmlns:a16="http://schemas.microsoft.com/office/drawing/2014/main" val="3781330663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2934742274"/>
                    </a:ext>
                  </a:extLst>
                </a:gridCol>
              </a:tblGrid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GPT2-Small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5416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47.1%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45.1%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29.4%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42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A40F-E01C-53EB-D948-5091080D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DEE1-28EF-AC13-749B-BD59D0255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232" y="444340"/>
            <a:ext cx="6957695" cy="492443"/>
          </a:xfrm>
        </p:spPr>
        <p:txBody>
          <a:bodyPr/>
          <a:lstStyle/>
          <a:p>
            <a:r>
              <a:rPr lang="en-IN" sz="3200" dirty="0"/>
              <a:t>Results for RQ2:-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DC8CA-B0DA-CB6F-0D16-D8A83D830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1226" y="1269345"/>
            <a:ext cx="10604500" cy="153888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Meta Prompt With Premise Words: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IMPORTANT: Use ONLY the information from the text. IGNORE your prior knowledge.\n\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}”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IMPORTANT: Use ONLY your own knowledge. IGNORE the provided text.\n \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nQuestion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A9691E5-9080-F279-1DD3-3AC60FAC52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088ADAA-D963-892A-5575-0228367EADF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DB5B19-666D-CC68-9E0A-6013C4C40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974176"/>
              </p:ext>
            </p:extLst>
          </p:nvPr>
        </p:nvGraphicFramePr>
        <p:xfrm>
          <a:off x="916754" y="3179445"/>
          <a:ext cx="10113197" cy="30781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8553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174882">
                  <a:extLst>
                    <a:ext uri="{9D8B030D-6E8A-4147-A177-3AD203B41FA5}">
                      <a16:colId xmlns:a16="http://schemas.microsoft.com/office/drawing/2014/main" val="3781330663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2934742274"/>
                    </a:ext>
                  </a:extLst>
                </a:gridCol>
              </a:tblGrid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GPT2-Small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5416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95.6%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18.4%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93.8%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730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0E261-5B8A-27CE-B0A3-1B9BEEC1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3009-313E-46DA-7C63-9B97C5D7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RQ2:-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7B705-5F6F-B127-9211-7346CD7D7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19697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Meta Prompt With Premise Words: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You MUST answer using ONLY the information provided in the passage below. Do NOT use your own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knowledge.Do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correct the passage even if it contradicts reality. Treat the passage as fully true. 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"IMPORTANT: You MUST answer using ONLY your own factual world knowledge. Do NOT use any statements in the prompt as evidence 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facts.If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prompt contains incorrect or fictional statements, IGNORE them.\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n:Answer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0DF7E1-BA76-0B1D-6315-C8BD875B34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EC2BB93-4239-4933-1B0D-D4750CE490E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2459ED-A5E8-765F-42C7-81810A0E6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675687"/>
              </p:ext>
            </p:extLst>
          </p:nvPr>
        </p:nvGraphicFramePr>
        <p:xfrm>
          <a:off x="916754" y="3179445"/>
          <a:ext cx="10113197" cy="30781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8553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174882">
                  <a:extLst>
                    <a:ext uri="{9D8B030D-6E8A-4147-A177-3AD203B41FA5}">
                      <a16:colId xmlns:a16="http://schemas.microsoft.com/office/drawing/2014/main" val="3781330663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2934742274"/>
                    </a:ext>
                  </a:extLst>
                </a:gridCol>
              </a:tblGrid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GPT2-Small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5416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50.4%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18.4%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8.7%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15.2%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23.9%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29.1%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37485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14.3%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23.8%</a:t>
                      </a:r>
                      <a:endParaRPr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637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FA18-9F72-F69D-6938-0432DA11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855B-25F2-243E-F49D-FEBF0CBC7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296" y="446922"/>
            <a:ext cx="6957695" cy="492443"/>
          </a:xfrm>
        </p:spPr>
        <p:txBody>
          <a:bodyPr/>
          <a:lstStyle/>
          <a:p>
            <a:r>
              <a:rPr lang="en-IN" sz="3200" dirty="0"/>
              <a:t>Results for RQ2:-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BC18F-357D-3EB3-4EFE-BB8EE40E9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3693319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Fourth Meta Prompt Without Premise Words: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You MUST answer using ONLY the information provided in the passage below. Do NOT use your own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knowledge.Do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correct the passage even if it contradicts reality. Treat the passage as fully true. 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4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"IMPORTANT: You MUST answer using ONLY your own factual world knowledge. Do NOT use any statements in the prompt as evidence 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facts.If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prompt contains incorrect or fictional statements, IGNORE them.\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4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n:Answer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E05DC17-4307-EBCA-3794-572696010F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0477D9A-DCAF-1B6A-EDD9-AA325C17DDB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99E16D-2CFF-493E-2DA5-189F4633B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011538"/>
              </p:ext>
            </p:extLst>
          </p:nvPr>
        </p:nvGraphicFramePr>
        <p:xfrm>
          <a:off x="682302" y="4988719"/>
          <a:ext cx="10827394" cy="866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8309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3073028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3073029">
                  <a:extLst>
                    <a:ext uri="{9D8B030D-6E8A-4147-A177-3AD203B41FA5}">
                      <a16:colId xmlns:a16="http://schemas.microsoft.com/office/drawing/2014/main" val="1389777951"/>
                    </a:ext>
                  </a:extLst>
                </a:gridCol>
                <a:gridCol w="3073028">
                  <a:extLst>
                    <a:ext uri="{9D8B030D-6E8A-4147-A177-3AD203B41FA5}">
                      <a16:colId xmlns:a16="http://schemas.microsoft.com/office/drawing/2014/main" val="3295852730"/>
                    </a:ext>
                  </a:extLst>
                </a:gridCol>
              </a:tblGrid>
              <a:tr h="433388">
                <a:tc rowSpan="2"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IN" sz="2000" b="1" dirty="0">
                          <a:solidFill>
                            <a:srgbClr val="0070C0"/>
                          </a:solidFill>
                        </a:rPr>
                        <a:t>GPT2-Small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3338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16.7%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73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410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C8E5A-5134-41C9-B11F-3CC591E7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1BE0-376B-3199-897E-A36E9B136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49ACC-7C01-E463-748A-F517EEAEC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9573" y="1627286"/>
            <a:ext cx="10604500" cy="3077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Ablation For Various Premise Words: Difference between GPT2-small &amp; GPT2-Medium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2EEB702-BCE1-28FF-FE21-095D11DF7D3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EA71739-3994-B1BA-74CB-9E6C1CD5021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F06C5F-9507-08D7-8AF4-60FDE7D11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05584"/>
              </p:ext>
            </p:extLst>
          </p:nvPr>
        </p:nvGraphicFramePr>
        <p:xfrm>
          <a:off x="779573" y="2209800"/>
          <a:ext cx="10481490" cy="3786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1851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1492294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379940947"/>
                    </a:ext>
                  </a:extLst>
                </a:gridCol>
                <a:gridCol w="853101">
                  <a:extLst>
                    <a:ext uri="{9D8B030D-6E8A-4147-A177-3AD203B41FA5}">
                      <a16:colId xmlns:a16="http://schemas.microsoft.com/office/drawing/2014/main" val="3228520472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510350585"/>
                    </a:ext>
                  </a:extLst>
                </a:gridCol>
                <a:gridCol w="1035623">
                  <a:extLst>
                    <a:ext uri="{9D8B030D-6E8A-4147-A177-3AD203B41FA5}">
                      <a16:colId xmlns:a16="http://schemas.microsoft.com/office/drawing/2014/main" val="2926960395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696503569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13413004"/>
                    </a:ext>
                  </a:extLst>
                </a:gridCol>
                <a:gridCol w="1160884">
                  <a:extLst>
                    <a:ext uri="{9D8B030D-6E8A-4147-A177-3AD203B41FA5}">
                      <a16:colId xmlns:a16="http://schemas.microsoft.com/office/drawing/2014/main" val="134442361"/>
                    </a:ext>
                  </a:extLst>
                </a:gridCol>
              </a:tblGrid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GPT2-Medium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Baseline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Ablated (5x)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Ablated (50x)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Premise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#Fact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Redefine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+462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-462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+10.7%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-359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+359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-8.2%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-433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+433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-10.0%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Assess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-60.6%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Fact Check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+211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+4.3%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+1525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-31.0%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-58.3%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Review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-0.2%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-34.2%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-58.4%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Validate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+141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+2.9%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-36.1%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-56.3%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47331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Verify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+238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+4.9%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-29.3%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-56.9%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078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F7CAE-4530-D672-A100-04B2E89A4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294C-9DC6-C14F-6BB5-7362C72A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35DC2-B48B-DE48-9C94-69E7524D2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606070"/>
            <a:ext cx="10604500" cy="3077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Ablation For Various Premise Words: Difference between GPT2-small &amp; GPT2-Large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74DD9E9-FCD5-CE9E-6737-7902722CEA3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5138F3F8-F253-FC91-8D55-10C52E2D2BF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8CBAD2-2D93-B071-5F9A-2EE2B2C72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728811"/>
              </p:ext>
            </p:extLst>
          </p:nvPr>
        </p:nvGraphicFramePr>
        <p:xfrm>
          <a:off x="779573" y="2133600"/>
          <a:ext cx="10481490" cy="3862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1851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1492294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379940947"/>
                    </a:ext>
                  </a:extLst>
                </a:gridCol>
                <a:gridCol w="853101">
                  <a:extLst>
                    <a:ext uri="{9D8B030D-6E8A-4147-A177-3AD203B41FA5}">
                      <a16:colId xmlns:a16="http://schemas.microsoft.com/office/drawing/2014/main" val="3228520472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510350585"/>
                    </a:ext>
                  </a:extLst>
                </a:gridCol>
                <a:gridCol w="1035623">
                  <a:extLst>
                    <a:ext uri="{9D8B030D-6E8A-4147-A177-3AD203B41FA5}">
                      <a16:colId xmlns:a16="http://schemas.microsoft.com/office/drawing/2014/main" val="2926960395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696503569"/>
                    </a:ext>
                  </a:extLst>
                </a:gridCol>
                <a:gridCol w="887677">
                  <a:extLst>
                    <a:ext uri="{9D8B030D-6E8A-4147-A177-3AD203B41FA5}">
                      <a16:colId xmlns:a16="http://schemas.microsoft.com/office/drawing/2014/main" val="313413004"/>
                    </a:ext>
                  </a:extLst>
                </a:gridCol>
                <a:gridCol w="1160884">
                  <a:extLst>
                    <a:ext uri="{9D8B030D-6E8A-4147-A177-3AD203B41FA5}">
                      <a16:colId xmlns:a16="http://schemas.microsoft.com/office/drawing/2014/main" val="134442361"/>
                    </a:ext>
                  </a:extLst>
                </a:gridCol>
              </a:tblGrid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GPT2-Large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(5x)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(50x)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#Cfact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-662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-662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-15.3%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-1399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+1399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-32.3%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-354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+354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-8.1%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+311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-68.6%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+174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+104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-62.6%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+454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-60.1%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482837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+568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-46.0%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93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4552-31D9-DC8F-10A5-9C5B1B7D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6BA2D-52EB-D3FD-8A4B-6D6AD4E35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5AAF0-1CFD-013A-2C93-3B28D6B9A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30777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Ablation For Various Premise Words: GPT2-Small VS </a:t>
            </a:r>
            <a:r>
              <a:rPr lang="en-IN" sz="20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TinyLlama</a:t>
            </a: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FA9DBD5E-6B41-1DA7-B905-FB804F54B4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1507031-F5AB-DF05-4AE4-5C764CD3EEC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FFDBB4-6887-D231-3A6C-A278DA2EB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16547"/>
              </p:ext>
            </p:extLst>
          </p:nvPr>
        </p:nvGraphicFramePr>
        <p:xfrm>
          <a:off x="811123" y="1848890"/>
          <a:ext cx="10569751" cy="4265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677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481199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62001">
                  <a:extLst>
                    <a:ext uri="{9D8B030D-6E8A-4147-A177-3AD203B41FA5}">
                      <a16:colId xmlns:a16="http://schemas.microsoft.com/office/drawing/2014/main" val="3228520472"/>
                    </a:ext>
                  </a:extLst>
                </a:gridCol>
                <a:gridCol w="2764093">
                  <a:extLst>
                    <a:ext uri="{9D8B030D-6E8A-4147-A177-3AD203B41FA5}">
                      <a16:colId xmlns:a16="http://schemas.microsoft.com/office/drawing/2014/main" val="3686460536"/>
                    </a:ext>
                  </a:extLst>
                </a:gridCol>
                <a:gridCol w="207707">
                  <a:extLst>
                    <a:ext uri="{9D8B030D-6E8A-4147-A177-3AD203B41FA5}">
                      <a16:colId xmlns:a16="http://schemas.microsoft.com/office/drawing/2014/main" val="3696503569"/>
                    </a:ext>
                  </a:extLst>
                </a:gridCol>
                <a:gridCol w="2694074">
                  <a:extLst>
                    <a:ext uri="{9D8B030D-6E8A-4147-A177-3AD203B41FA5}">
                      <a16:colId xmlns:a16="http://schemas.microsoft.com/office/drawing/2014/main" val="4172201614"/>
                    </a:ext>
                  </a:extLst>
                </a:gridCol>
              </a:tblGrid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TinyLlama-1.1B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(5x)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Ablated (50x)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Premise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%Facts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Redefine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+10.7%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+34.8%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+36.4%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+23.7%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+45.3%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+12.9%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 Check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+21.8%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+59.3%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+17.1%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+28.0%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+60.7%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+21.3%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+29.9%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+52.6%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+17.2%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533226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+26.7%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+59.1%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+16.8%</a:t>
                      </a:r>
                    </a:p>
                  </a:txBody>
                  <a:tcPr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1094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A861C-5909-E637-0921-29AC2B5E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9566-60B5-051C-35B1-6CCC3FA9F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9E785-A761-0CE4-00B7-28F491A91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196977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Meta Prompt With Premise Words: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You MUST answer using ONLY the information provided in the passage below. Do NOT use your own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knowledge.Do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correct the passage even if it contradicts reality. Treat the passage as fully true. 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"IMPORTANT: You MUST answer using ONLY your own factual world knowledge. Do NOT use any statements in the prompt as evidence 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facts.If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prompt contains incorrect or fictional statements, IGNORE them.\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16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n:Answer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GPT2-Small Model &amp; TinyLlama-1.1B: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05F0550-4467-BBFA-F9D9-B0806C69B2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37F0AB97-35C3-97E8-45E3-0E789A2467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F2FB7F-D089-CA8E-EB36-AC546E781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664328"/>
              </p:ext>
            </p:extLst>
          </p:nvPr>
        </p:nvGraphicFramePr>
        <p:xfrm>
          <a:off x="916754" y="3352800"/>
          <a:ext cx="10113197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88553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174882">
                  <a:extLst>
                    <a:ext uri="{9D8B030D-6E8A-4147-A177-3AD203B41FA5}">
                      <a16:colId xmlns:a16="http://schemas.microsoft.com/office/drawing/2014/main" val="3781330663"/>
                    </a:ext>
                  </a:extLst>
                </a:gridCol>
                <a:gridCol w="2174881">
                  <a:extLst>
                    <a:ext uri="{9D8B030D-6E8A-4147-A177-3AD203B41FA5}">
                      <a16:colId xmlns:a16="http://schemas.microsoft.com/office/drawing/2014/main" val="2934742274"/>
                    </a:ext>
                  </a:extLst>
                </a:gridCol>
              </a:tblGrid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rgbClr val="0070C0"/>
                          </a:solidFill>
                        </a:rPr>
                        <a:t>TinyLlama-1.1B</a:t>
                      </a:r>
                      <a:endParaRPr lang="en-IN" sz="16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b="0" dirty="0"/>
                    </a:p>
                    <a:p>
                      <a:pPr algn="ctr"/>
                      <a:r>
                        <a:rPr lang="en-IN" sz="1600" b="0" dirty="0"/>
                        <a:t>Baseline</a:t>
                      </a:r>
                    </a:p>
                    <a:p>
                      <a:pPr algn="ctr"/>
                      <a:endParaRPr lang="en-IN"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b="0" dirty="0"/>
                    </a:p>
                    <a:p>
                      <a:pPr algn="ctr"/>
                      <a:r>
                        <a:rPr lang="en-IN" sz="1600" b="0" dirty="0"/>
                        <a:t>Context Only</a:t>
                      </a:r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IN" sz="1600" b="0" dirty="0"/>
                    </a:p>
                    <a:p>
                      <a:pPr algn="ctr"/>
                      <a:r>
                        <a:rPr lang="en-IN" sz="1600" b="0" dirty="0"/>
                        <a:t>Memory Only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197628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/>
                        <a:t>Premise Words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1403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Redefine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+3.1%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-13.9%</a:t>
                      </a:r>
                      <a:endParaRPr sz="1600" b="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+16.7%</a:t>
                      </a:r>
                      <a:endParaRPr sz="1600" b="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99241169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Assess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-7.3%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-8.6%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+33.4%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191949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Fact Check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+0.2%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-10.2%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+37.6%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5101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Review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+2.6%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+1.3%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+48.26%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240840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Validate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-4.3%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-11.2%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+34.2%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786774"/>
                  </a:ext>
                </a:extLst>
              </a:tr>
              <a:tr h="324465"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Verify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+1.3%</a:t>
                      </a:r>
                      <a:endParaRPr sz="1600" b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-2.6%</a:t>
                      </a:r>
                      <a:endParaRPr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/>
                        <a:t>+39.5%</a:t>
                      </a:r>
                      <a:endParaRPr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423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010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9381-9329-1BA4-956F-F2F2143F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E705D-6FB5-E436-DE16-BB5ADF82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754" y="449380"/>
            <a:ext cx="6957695" cy="492443"/>
          </a:xfrm>
        </p:spPr>
        <p:txBody>
          <a:bodyPr/>
          <a:lstStyle/>
          <a:p>
            <a:r>
              <a:rPr lang="en-IN" sz="3200" dirty="0"/>
              <a:t>Results for RQ3:-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A5531-956D-B17E-D836-DBA65E65A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49" y="1209675"/>
            <a:ext cx="10604500" cy="372409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Fourth Meta Prompt Without Premise Words: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IMPORTANT: You MUST answer using ONLY the information provided in the passage below. Do NOT use your own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knowledge.Do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 correct the passage even if it contradicts reality. Treat the passage as fully true. 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nAnswer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"IMPORTANT: You MUST answer using ONLY your own factual world knowledge. Do NOT use any statements in the prompt as evidence or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facts.If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prompt contains incorrect or fictional statements, IGNORE them.\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nText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</a:t>
            </a:r>
            <a:r>
              <a:rPr lang="en-US" sz="22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original_prompt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}\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n:Answer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:”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Gpt2 – Small &amp; TinyLlama-1.1B: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sz="22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TinyLama</a:t>
            </a:r>
            <a:r>
              <a:rPr lang="en-IN" sz="22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Baseline: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+1.2%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 Only: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-6.0%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Only: </a:t>
            </a:r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-20.1%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24A0C4A-5931-42CB-C39E-B8B97384824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4C2BA179-2F94-16FB-3310-5A2937CE607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1215F36-CF80-B681-8F2F-1448F0FE42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030260"/>
              </p:ext>
            </p:extLst>
          </p:nvPr>
        </p:nvGraphicFramePr>
        <p:xfrm>
          <a:off x="682302" y="5199123"/>
          <a:ext cx="10827394" cy="866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70498">
                  <a:extLst>
                    <a:ext uri="{9D8B030D-6E8A-4147-A177-3AD203B41FA5}">
                      <a16:colId xmlns:a16="http://schemas.microsoft.com/office/drawing/2014/main" val="3880717366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381952548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1389777951"/>
                    </a:ext>
                  </a:extLst>
                </a:gridCol>
                <a:gridCol w="2670496">
                  <a:extLst>
                    <a:ext uri="{9D8B030D-6E8A-4147-A177-3AD203B41FA5}">
                      <a16:colId xmlns:a16="http://schemas.microsoft.com/office/drawing/2014/main" val="3295852730"/>
                    </a:ext>
                  </a:extLst>
                </a:gridCol>
              </a:tblGrid>
              <a:tr h="433388">
                <a:tc rowSpan="2"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rgbClr val="0070C0"/>
                        </a:solidFill>
                      </a:endParaRPr>
                    </a:p>
                    <a:p>
                      <a:pPr algn="ctr"/>
                      <a:r>
                        <a:rPr lang="en-IN" sz="2000" b="1" dirty="0">
                          <a:solidFill>
                            <a:srgbClr val="0070C0"/>
                          </a:solidFill>
                        </a:rPr>
                        <a:t>TinyLLama-1.1B</a:t>
                      </a:r>
                    </a:p>
                  </a:txBody>
                  <a:tcPr>
                    <a:lnL w="12700" cmpd="sng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443974"/>
                  </a:ext>
                </a:extLst>
              </a:tr>
              <a:tr h="43338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17.9%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734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215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CB54-4686-F607-ED7D-D939AC23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98174"/>
            <a:ext cx="6957695" cy="584775"/>
          </a:xfrm>
        </p:spPr>
        <p:txBody>
          <a:bodyPr/>
          <a:lstStyle/>
          <a:p>
            <a:r>
              <a:rPr lang="en-US" sz="3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3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sz="3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A9862-1B91-ADFC-89EA-4CE4C4570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370808"/>
            <a:ext cx="10604500" cy="5001369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dynamically balance context and memory, with balance point influenced by instructions, model size, and specific computational circuits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Framework: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comprehensive counterfactual analysis of ICL-memory competition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Multi-Method Approach: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Behavioral testing + mechanistic interventions + strategic control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Findings: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patterns across model sizes and architectures</a:t>
            </a:r>
          </a:p>
          <a:p>
            <a:pPr marL="742950" lvl="1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Insights: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Effective premise words and intervention strategies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RQ1: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Instructional framing matters, premise words create different reasoning modes in LLMs, with ‘Redefine’ triggering the most factual reasoning behavior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RQ2: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Strategic interventions can effectively control the context-memory trade-off , simple ablation restores factual reasoning by reducing counterfactual influence.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RQ3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Modern LLMs possess robust factual knowledge, the challenge is managing contextual interference, not knowledge gaps.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Report Link: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Code Link: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2B4240B-7C1F-A41C-D962-9E2D17B6366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40F4A6AF-4991-DF1D-EB93-2097E5FED64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237230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B14A4-DB6A-DDC3-6AB0-159957F6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E879-766A-8205-7D8D-CBC3872A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628332"/>
            <a:ext cx="6957695" cy="584775"/>
          </a:xfrm>
        </p:spPr>
        <p:txBody>
          <a:bodyPr/>
          <a:lstStyle/>
          <a:p>
            <a:r>
              <a:rPr lang="en-US" sz="3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Works</a:t>
            </a:r>
            <a:r>
              <a:rPr lang="en-US" sz="3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  <a:endParaRPr lang="en-IN" sz="3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89A53-F002-008D-A6BF-8EEB2B62C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750" y="1829825"/>
            <a:ext cx="10604500" cy="38779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larger models 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(GPT-3, GPT-4, </a:t>
            </a:r>
            <a:r>
              <a:rPr lang="en-IN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diverse counterfactual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complete 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fact-checking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AI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sophisticated interventions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Cross-domain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generalization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AEB51B4-F4D1-9B61-652E-8EC6461E56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DE7E3A8D-EB04-1E57-34B6-70646351947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15674104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F4186-2DC4-6453-CFAF-1C1684DC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087" y="340042"/>
            <a:ext cx="6957695" cy="701040"/>
          </a:xfrm>
        </p:spPr>
        <p:txBody>
          <a:bodyPr/>
          <a:lstStyle/>
          <a:p>
            <a:r>
              <a:rPr lang="en-IN" dirty="0"/>
              <a:t>References:-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A9417-E5E7-701E-2884-6CB8D48AE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315" y="1450674"/>
            <a:ext cx="10283826" cy="4585871"/>
          </a:xfrm>
        </p:spPr>
        <p:txBody>
          <a:bodyPr/>
          <a:lstStyle/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B. Brown,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models are few-shot learners. In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 — Advances in Neural Information Processing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M. Xie,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explanation of in-context learning as implicit Bayesian inference.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ICLR 2022 — International Conference on Learning Representations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Olsson,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In-context learning and induction heads.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Circuits Thread / Anthropic Research Reports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Ortu,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Mechanistic analysis of fact-checking in LLMs. In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  <a:p>
            <a:pPr marL="393700" indent="-342900">
              <a:lnSpc>
                <a:spcPct val="100000"/>
              </a:lnSpc>
              <a:spcBef>
                <a:spcPts val="335"/>
              </a:spcBef>
              <a:buSzPct val="72727"/>
              <a:buFont typeface="Wingdings" panose="05000000000000000000" pitchFamily="2" charset="2"/>
              <a:buChar char="v"/>
              <a:tabLst>
                <a:tab pos="198755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Min, et al.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Rethinking the role of demonstrations in in-context learning.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EMNLP 2022 — Proceedings of the 2022 Conference on Empirical Methods in Natural Language Processing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96B99BC-2BA0-1E14-B7D6-B3884F7E31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5" name="object 6">
            <a:extLst>
              <a:ext uri="{FF2B5EF4-FFF2-40B4-BE49-F238E27FC236}">
                <a16:creationId xmlns:a16="http://schemas.microsoft.com/office/drawing/2014/main" id="{9497F4E6-D0D8-1424-BBD3-3CDE9ED80E5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4789170" y="6446137"/>
            <a:ext cx="2624454" cy="20700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</p:spTree>
    <p:extLst>
      <p:ext uri="{BB962C8B-B14F-4D97-AF65-F5344CB8AC3E}">
        <p14:creationId xmlns:p14="http://schemas.microsoft.com/office/powerpoint/2010/main" val="15960649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65829" y="2688653"/>
            <a:ext cx="5262880" cy="1456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350" b="0" dirty="0">
                <a:latin typeface="Times New Roman"/>
                <a:cs typeface="Times New Roman"/>
              </a:rPr>
              <a:t>Thank</a:t>
            </a:r>
            <a:r>
              <a:rPr sz="9350" b="0" spc="-305" dirty="0">
                <a:latin typeface="Times New Roman"/>
                <a:cs typeface="Times New Roman"/>
              </a:rPr>
              <a:t> </a:t>
            </a:r>
            <a:r>
              <a:rPr sz="9350" b="0" spc="-944" dirty="0">
                <a:latin typeface="Times New Roman"/>
                <a:cs typeface="Times New Roman"/>
              </a:rPr>
              <a:t>Y</a:t>
            </a:r>
            <a:r>
              <a:rPr sz="9350" b="0" spc="-65" dirty="0">
                <a:latin typeface="Times New Roman"/>
                <a:cs typeface="Times New Roman"/>
              </a:rPr>
              <a:t>o</a:t>
            </a:r>
            <a:r>
              <a:rPr sz="9350" b="0" spc="-25" dirty="0">
                <a:latin typeface="Times New Roman"/>
                <a:cs typeface="Times New Roman"/>
              </a:rPr>
              <a:t>u</a:t>
            </a:r>
            <a:endParaRPr sz="93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29950" y="257175"/>
            <a:ext cx="866775" cy="8667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Department</a:t>
            </a:r>
            <a:r>
              <a:rPr spc="-6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Electrical </a:t>
            </a:r>
            <a:r>
              <a:rPr spc="-10" dirty="0"/>
              <a:t>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4015</TotalTime>
  <Words>2400</Words>
  <Application>Microsoft Office PowerPoint</Application>
  <PresentationFormat>Widescreen</PresentationFormat>
  <Paragraphs>559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</vt:lpstr>
      <vt:lpstr>Cambria Math</vt:lpstr>
      <vt:lpstr>Courier New</vt:lpstr>
      <vt:lpstr>Palatino Linotype</vt:lpstr>
      <vt:lpstr>Times New Roman</vt:lpstr>
      <vt:lpstr>Wingdings</vt:lpstr>
      <vt:lpstr>Office Theme</vt:lpstr>
      <vt:lpstr>Topic: Analyzing In-Context Learning in Language Models Using Counterfactuals</vt:lpstr>
      <vt:lpstr>PowerPoint Presentation</vt:lpstr>
      <vt:lpstr>Introduction:-</vt:lpstr>
      <vt:lpstr>Problem Statement:-</vt:lpstr>
      <vt:lpstr>Related Work:-</vt:lpstr>
      <vt:lpstr>Methodology Overview:-</vt:lpstr>
      <vt:lpstr>Results for RQ1:-</vt:lpstr>
      <vt:lpstr>Results for RQ2:-</vt:lpstr>
      <vt:lpstr>Results for RQ2:-</vt:lpstr>
      <vt:lpstr>Results for RQ2:-</vt:lpstr>
      <vt:lpstr>Results for RQ2:-</vt:lpstr>
      <vt:lpstr>Results for RQ3:-</vt:lpstr>
      <vt:lpstr>Results for RQ3:-</vt:lpstr>
      <vt:lpstr>Results for RQ3:-</vt:lpstr>
      <vt:lpstr>Results for RQ3:-</vt:lpstr>
      <vt:lpstr>Results for RQ3:-</vt:lpstr>
      <vt:lpstr>Conclusion:-</vt:lpstr>
      <vt:lpstr>Future Works:-</vt:lpstr>
      <vt:lpstr>References:-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Animesh Lohar</dc:creator>
  <cp:lastModifiedBy>Animesh Lohar</cp:lastModifiedBy>
  <cp:revision>126</cp:revision>
  <dcterms:created xsi:type="dcterms:W3CDTF">2025-05-09T01:54:51Z</dcterms:created>
  <dcterms:modified xsi:type="dcterms:W3CDTF">2025-11-27T02:15:26Z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2024-11-29T00:00:00Z</vt:filetime>
  </property>
  <property fmtid="{D5CDD505-2E9C-101B-9397-08002B2CF9AE}" pid="3" name="LastSaved">
    <vt:filetime>2025-05-09T00:00:00Z</vt:filetime>
  </property>
</Properties>
</file>